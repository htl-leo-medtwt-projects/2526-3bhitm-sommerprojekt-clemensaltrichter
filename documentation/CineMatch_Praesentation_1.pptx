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59" r:id="rId5"/>
    <p:sldId id="27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49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kern="0" spc="800" dirty="0">
                <a:solidFill>
                  <a:srgbClr val="C52720"/>
                </a:solidFill>
                <a:latin typeface="HighriseDemo" pitchFamily="50" charset="0"/>
                <a:ea typeface="Arial" pitchFamily="34" charset="-122"/>
                <a:cs typeface="Arial" pitchFamily="34" charset="-120"/>
              </a:rPr>
              <a:t>CINE</a:t>
            </a:r>
            <a:endParaRPr lang="en-US" sz="15000" dirty="0">
              <a:latin typeface="HighriseDemo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kern="0" spc="1200" dirty="0">
                <a:solidFill>
                  <a:srgbClr val="F2F4F3"/>
                </a:solidFill>
                <a:latin typeface="HighriseDemo" pitchFamily="50" charset="0"/>
                <a:ea typeface="Arial" pitchFamily="34" charset="-122"/>
                <a:cs typeface="Arial" pitchFamily="34" charset="-120"/>
              </a:rPr>
              <a:t>MATCH</a:t>
            </a:r>
            <a:endParaRPr lang="en-US" sz="10000" dirty="0">
              <a:latin typeface="HighriseDemo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Sommerprojekt 2025  ·  Clemens Altrichter  ·  3BHITM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"Nie wieder endlos scrollen — einfach swipen, abstimmen, schauen."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INHALTSVERZEICHNIS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Projektidee &amp; USPs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Datenbankstruktur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Code-Highlights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279016-FDDC-C38C-B36D-6BA926EBF939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10C2D0-8FF5-F814-887B-300CCE11BCD7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 PROJEKTIDEE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EDC2F3-0DB6-EF15-EEC3-105C70364B81}"/>
              </a:ext>
            </a:extLst>
          </p:cNvPr>
          <p:cNvSpPr/>
          <p:nvPr/>
        </p:nvSpPr>
        <p:spPr>
          <a:xfrm>
            <a:off x="457200" y="685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8B2E9F-0253-3B75-1C4F-98438A51B8B1}"/>
              </a:ext>
            </a:extLst>
          </p:cNvPr>
          <p:cNvSpPr/>
          <p:nvPr/>
        </p:nvSpPr>
        <p:spPr>
          <a:xfrm>
            <a:off x="457200" y="12344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Filmabend</a:t>
            </a:r>
            <a:r>
              <a:rPr lang="en-US" sz="1400" b="1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was </a:t>
            </a:r>
            <a:r>
              <a:rPr lang="en-US" sz="1400" b="1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schauen</a:t>
            </a:r>
            <a:r>
              <a:rPr lang="en-US" sz="1400" b="1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Minuten Diskussion, kein Ergebnis</a:t>
            </a:r>
            <a:endParaRPr lang="en-US" sz="14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scrollt auf seinem eigenen Netflix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gemeinsamer Entscheidungsprozess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weiß was die anderen wollen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AB3626-1186-0AAC-98EA-F5FACB63B6EB}"/>
              </a:ext>
            </a:extLst>
          </p:cNvPr>
          <p:cNvSpPr/>
          <p:nvPr/>
        </p:nvSpPr>
        <p:spPr>
          <a:xfrm>
            <a:off x="4846320" y="685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</a:t>
            </a:r>
            <a:r>
              <a:rPr lang="en-US" sz="2200" b="1" dirty="0" err="1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</a:t>
            </a:r>
            <a:r>
              <a:rPr lang="en-US" sz="22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521F47-20DD-0870-8029-D7A6D5BAF366}"/>
              </a:ext>
            </a:extLst>
          </p:cNvPr>
          <p:cNvSpPr/>
          <p:nvPr/>
        </p:nvSpPr>
        <p:spPr>
          <a:xfrm>
            <a:off x="4754881" y="2016955"/>
            <a:ext cx="3840480" cy="1635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Universell</a:t>
            </a: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anwendbare</a:t>
            </a: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webapp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Party mit Freunden starten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durch alle Vorschläge swipen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mit den meisten Likes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gewinnt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10BF8A-7B46-5F66-4B90-F34EE2880A84}"/>
              </a:ext>
            </a:extLst>
          </p:cNvPr>
          <p:cNvSpPr/>
          <p:nvPr/>
        </p:nvSpPr>
        <p:spPr>
          <a:xfrm>
            <a:off x="4526280" y="64008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341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 USPs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CineMatch einzigartig macht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Listen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Filme die die Gruppe wirklich sehen will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9834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Demokratisch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8288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hat gleich viel Einfluss — niemand setzt sich durch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endloses Scrollen — Swipe entscheidet in Sekunden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11111"/>
          </a:solidFill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Plattformfrei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Egal ob Netflix, Disney+, Kino — app-unabhängig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23FDB6-BE2C-B6DD-78F5-131259D3C00C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4CAA1D-2B18-B954-FD63-4712CDB2435E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  DATENBANK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84E8B2-CC30-9920-C64F-534A11BB4053}"/>
              </a:ext>
            </a:extLst>
          </p:cNvPr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F4F3"/>
                </a:solidFill>
                <a:latin typeface="Aptos Black" panose="020B0004020202020204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2200" b="1" dirty="0" err="1">
                <a:solidFill>
                  <a:srgbClr val="F2F4F3"/>
                </a:solidFill>
                <a:latin typeface="Aptos Black" panose="020B0004020202020204" pitchFamily="34" charset="0"/>
                <a:ea typeface="Arial" pitchFamily="34" charset="-122"/>
                <a:cs typeface="Arial" pitchFamily="34" charset="-120"/>
              </a:rPr>
              <a:t>Tabellen</a:t>
            </a:r>
            <a:r>
              <a:rPr lang="en-US" sz="2200" b="1" dirty="0">
                <a:solidFill>
                  <a:srgbClr val="F2F4F3"/>
                </a:solidFill>
                <a:latin typeface="Aptos Black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>
              <a:latin typeface="Aptos Black" panose="020B00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6FA8A6-FF68-F354-8792-031736023363}"/>
              </a:ext>
            </a:extLst>
          </p:cNvPr>
          <p:cNvSpPr/>
          <p:nvPr/>
        </p:nvSpPr>
        <p:spPr>
          <a:xfrm>
            <a:off x="4708808" y="1184127"/>
            <a:ext cx="3782099" cy="3418449"/>
          </a:xfrm>
          <a:prstGeom prst="roundRect">
            <a:avLst>
              <a:gd name="adj" fmla="val 3077"/>
            </a:avLst>
          </a:prstGeom>
          <a:solidFill>
            <a:srgbClr val="180505"/>
          </a:solidFill>
          <a:ln w="1524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98D30B-7E1C-1E9B-7F9C-7CAC6E7E0C7E}"/>
              </a:ext>
            </a:extLst>
          </p:cNvPr>
          <p:cNvSpPr/>
          <p:nvPr/>
        </p:nvSpPr>
        <p:spPr>
          <a:xfrm>
            <a:off x="4836824" y="1220766"/>
            <a:ext cx="3548575" cy="292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WATCHPARTY FLOW</a:t>
            </a:r>
            <a:endParaRPr lang="en-US" sz="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C76AFF-23C2-A1A8-23EF-8A18C53CDE87}"/>
              </a:ext>
            </a:extLst>
          </p:cNvPr>
          <p:cNvSpPr/>
          <p:nvPr/>
        </p:nvSpPr>
        <p:spPr>
          <a:xfrm>
            <a:off x="4836824" y="1536171"/>
            <a:ext cx="3548575" cy="621792"/>
          </a:xfrm>
          <a:prstGeom prst="roundRect">
            <a:avLst>
              <a:gd name="adj" fmla="val 10294"/>
            </a:avLst>
          </a:prstGeom>
          <a:solidFill>
            <a:srgbClr val="2A0808"/>
          </a:solidFill>
          <a:ln w="1524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5E2E4E-BA40-64C8-7C61-01F0ABBA50E5}"/>
              </a:ext>
            </a:extLst>
          </p:cNvPr>
          <p:cNvSpPr/>
          <p:nvPr/>
        </p:nvSpPr>
        <p:spPr>
          <a:xfrm>
            <a:off x="4973984" y="160017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watchparty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6DA888-9809-D7FB-B9DF-D61FEB6412E4}"/>
              </a:ext>
            </a:extLst>
          </p:cNvPr>
          <p:cNvSpPr/>
          <p:nvPr/>
        </p:nvSpPr>
        <p:spPr>
          <a:xfrm>
            <a:off x="4973984" y="1856211"/>
            <a:ext cx="3411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watchpartyID  userID  name  status  date  chosenMovieID</a:t>
            </a:r>
            <a:endParaRPr lang="en-US" sz="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E99D34-62CA-7321-07F0-7E897758ED16}"/>
              </a:ext>
            </a:extLst>
          </p:cNvPr>
          <p:cNvSpPr/>
          <p:nvPr/>
        </p:nvSpPr>
        <p:spPr>
          <a:xfrm>
            <a:off x="4836824" y="2267691"/>
            <a:ext cx="3548575" cy="621792"/>
          </a:xfrm>
          <a:prstGeom prst="roundRect">
            <a:avLst>
              <a:gd name="adj" fmla="val 10294"/>
            </a:avLst>
          </a:prstGeom>
          <a:solidFill>
            <a:srgbClr val="1A0808"/>
          </a:solidFill>
          <a:ln w="10160">
            <a:solidFill>
              <a:srgbClr val="7A151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A353C4-F28B-A5A0-432F-E75A01FE5CD7}"/>
              </a:ext>
            </a:extLst>
          </p:cNvPr>
          <p:cNvSpPr/>
          <p:nvPr/>
        </p:nvSpPr>
        <p:spPr>
          <a:xfrm>
            <a:off x="4973984" y="233169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partymember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97D2BE-1382-2664-B33D-C3FB01712483}"/>
              </a:ext>
            </a:extLst>
          </p:cNvPr>
          <p:cNvSpPr/>
          <p:nvPr/>
        </p:nvSpPr>
        <p:spPr>
          <a:xfrm>
            <a:off x="4973984" y="2610633"/>
            <a:ext cx="3411415" cy="178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watchpartyID  userID  status</a:t>
            </a:r>
            <a:endParaRPr lang="en-US" sz="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E2946D-2C8C-E385-1566-ED2604D5F215}"/>
              </a:ext>
            </a:extLst>
          </p:cNvPr>
          <p:cNvSpPr/>
          <p:nvPr/>
        </p:nvSpPr>
        <p:spPr>
          <a:xfrm>
            <a:off x="4836824" y="2999211"/>
            <a:ext cx="3548575" cy="621792"/>
          </a:xfrm>
          <a:prstGeom prst="roundRect">
            <a:avLst>
              <a:gd name="adj" fmla="val 10294"/>
            </a:avLst>
          </a:prstGeom>
          <a:solidFill>
            <a:srgbClr val="1A0808"/>
          </a:solidFill>
          <a:ln w="10160">
            <a:solidFill>
              <a:srgbClr val="7A151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AC1DB5-2B59-A3E9-1A64-7EB52B0AC920}"/>
              </a:ext>
            </a:extLst>
          </p:cNvPr>
          <p:cNvSpPr/>
          <p:nvPr/>
        </p:nvSpPr>
        <p:spPr>
          <a:xfrm>
            <a:off x="4973984" y="306321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partylist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5244A1-02DC-99E1-E29F-BE786B1DF8A9}"/>
              </a:ext>
            </a:extLst>
          </p:cNvPr>
          <p:cNvSpPr/>
          <p:nvPr/>
        </p:nvSpPr>
        <p:spPr>
          <a:xfrm>
            <a:off x="4973984" y="3287247"/>
            <a:ext cx="3411415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watchpartyID  listID</a:t>
            </a:r>
            <a:endParaRPr lang="en-US" sz="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1D576FB-DE25-63C0-3490-F9CEA8AC5036}"/>
              </a:ext>
            </a:extLst>
          </p:cNvPr>
          <p:cNvSpPr/>
          <p:nvPr/>
        </p:nvSpPr>
        <p:spPr>
          <a:xfrm>
            <a:off x="4836824" y="3730731"/>
            <a:ext cx="3548575" cy="621792"/>
          </a:xfrm>
          <a:prstGeom prst="roundRect">
            <a:avLst>
              <a:gd name="adj" fmla="val 10294"/>
            </a:avLst>
          </a:prstGeom>
          <a:solidFill>
            <a:srgbClr val="1A0808"/>
          </a:solidFill>
          <a:ln w="10160">
            <a:solidFill>
              <a:srgbClr val="7A151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4217910-4A69-AB10-92B6-2B05A8E04279}"/>
              </a:ext>
            </a:extLst>
          </p:cNvPr>
          <p:cNvSpPr/>
          <p:nvPr/>
        </p:nvSpPr>
        <p:spPr>
          <a:xfrm>
            <a:off x="4973984" y="379473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swipes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7F122B-6D0E-EC2B-C14A-72C57129033B}"/>
              </a:ext>
            </a:extLst>
          </p:cNvPr>
          <p:cNvSpPr/>
          <p:nvPr/>
        </p:nvSpPr>
        <p:spPr>
          <a:xfrm>
            <a:off x="4973984" y="4000479"/>
            <a:ext cx="3349959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 movieID  watchpartyID  liked</a:t>
            </a:r>
            <a:endParaRPr lang="en-US" sz="7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B8EAE11-11A2-EDC7-9430-FDDEA83A16FE}"/>
              </a:ext>
            </a:extLst>
          </p:cNvPr>
          <p:cNvSpPr/>
          <p:nvPr/>
        </p:nvSpPr>
        <p:spPr>
          <a:xfrm>
            <a:off x="457200" y="1178852"/>
            <a:ext cx="3782098" cy="3423724"/>
          </a:xfrm>
          <a:prstGeom prst="roundRect">
            <a:avLst>
              <a:gd name="adj" fmla="val 3636"/>
            </a:avLst>
          </a:prstGeom>
          <a:solidFill>
            <a:srgbClr val="0D0D0D"/>
          </a:solidFill>
          <a:ln w="1524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CCB0E5-9F45-B642-D30E-65A1ACCFA3C4}"/>
              </a:ext>
            </a:extLst>
          </p:cNvPr>
          <p:cNvSpPr/>
          <p:nvPr/>
        </p:nvSpPr>
        <p:spPr>
          <a:xfrm>
            <a:off x="543365" y="118412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BASISTABELLEN</a:t>
            </a:r>
            <a:endParaRPr lang="en-US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3E90101-00E9-5572-5B35-DDB6B8E941D5}"/>
              </a:ext>
            </a:extLst>
          </p:cNvPr>
          <p:cNvSpPr/>
          <p:nvPr/>
        </p:nvSpPr>
        <p:spPr>
          <a:xfrm>
            <a:off x="543365" y="157731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54EB031-6594-843D-89EE-8E0E67C9133A}"/>
              </a:ext>
            </a:extLst>
          </p:cNvPr>
          <p:cNvSpPr/>
          <p:nvPr/>
        </p:nvSpPr>
        <p:spPr>
          <a:xfrm>
            <a:off x="653093" y="161389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9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B263DC3-2267-3336-8CB2-D2ED49330790}"/>
              </a:ext>
            </a:extLst>
          </p:cNvPr>
          <p:cNvSpPr/>
          <p:nvPr/>
        </p:nvSpPr>
        <p:spPr>
          <a:xfrm>
            <a:off x="653093" y="179677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 username  email  avatar</a:t>
            </a:r>
            <a:endParaRPr lang="en-US" sz="6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3A4FC4B-4B18-E81D-0828-52D397CF8CD0}"/>
              </a:ext>
            </a:extLst>
          </p:cNvPr>
          <p:cNvSpPr/>
          <p:nvPr/>
        </p:nvSpPr>
        <p:spPr>
          <a:xfrm>
            <a:off x="543365" y="208023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CFCCA22-01A5-51D0-50FA-FC5E958F2CBD}"/>
              </a:ext>
            </a:extLst>
          </p:cNvPr>
          <p:cNvSpPr/>
          <p:nvPr/>
        </p:nvSpPr>
        <p:spPr>
          <a:xfrm>
            <a:off x="653093" y="211681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17FC190-99EB-3A03-19A2-61964F3F6A2C}"/>
              </a:ext>
            </a:extLst>
          </p:cNvPr>
          <p:cNvSpPr/>
          <p:nvPr/>
        </p:nvSpPr>
        <p:spPr>
          <a:xfrm>
            <a:off x="653093" y="229969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movieID  tmdbID  title  poster</a:t>
            </a:r>
            <a:endParaRPr lang="en-US" sz="6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39B2557-9910-CE38-DB1A-C7D4C5AC48A9}"/>
              </a:ext>
            </a:extLst>
          </p:cNvPr>
          <p:cNvSpPr/>
          <p:nvPr/>
        </p:nvSpPr>
        <p:spPr>
          <a:xfrm>
            <a:off x="543365" y="258315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0EA0C84-8C68-77D7-E03D-2453670FD1DA}"/>
              </a:ext>
            </a:extLst>
          </p:cNvPr>
          <p:cNvSpPr/>
          <p:nvPr/>
        </p:nvSpPr>
        <p:spPr>
          <a:xfrm>
            <a:off x="653093" y="261973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FDA8A9D-AC29-7435-28B8-B4215763B032}"/>
              </a:ext>
            </a:extLst>
          </p:cNvPr>
          <p:cNvSpPr/>
          <p:nvPr/>
        </p:nvSpPr>
        <p:spPr>
          <a:xfrm>
            <a:off x="653093" y="280261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listID  userID  name</a:t>
            </a:r>
            <a:endParaRPr lang="en-US" sz="6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4A8DF1B-ECDF-4314-C2ED-52701C6633AC}"/>
              </a:ext>
            </a:extLst>
          </p:cNvPr>
          <p:cNvSpPr/>
          <p:nvPr/>
        </p:nvSpPr>
        <p:spPr>
          <a:xfrm>
            <a:off x="543365" y="308607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927E21E-A69F-265A-F97F-A7E0D83FC280}"/>
              </a:ext>
            </a:extLst>
          </p:cNvPr>
          <p:cNvSpPr/>
          <p:nvPr/>
        </p:nvSpPr>
        <p:spPr>
          <a:xfrm>
            <a:off x="653093" y="312265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list_movie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3D03B47-3F7E-2C66-2523-09F6CEFE33D2}"/>
              </a:ext>
            </a:extLst>
          </p:cNvPr>
          <p:cNvSpPr/>
          <p:nvPr/>
        </p:nvSpPr>
        <p:spPr>
          <a:xfrm>
            <a:off x="653093" y="330553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listID  movieID</a:t>
            </a:r>
            <a:endParaRPr lang="en-US" sz="6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93DF2FE-047A-B5F0-11C8-23A7F38A864B}"/>
              </a:ext>
            </a:extLst>
          </p:cNvPr>
          <p:cNvSpPr/>
          <p:nvPr/>
        </p:nvSpPr>
        <p:spPr>
          <a:xfrm>
            <a:off x="543365" y="358899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E278DC9-A7BE-2207-D794-3DEFC2475F21}"/>
              </a:ext>
            </a:extLst>
          </p:cNvPr>
          <p:cNvSpPr/>
          <p:nvPr/>
        </p:nvSpPr>
        <p:spPr>
          <a:xfrm>
            <a:off x="653093" y="362557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B61F8CE-1E83-6E70-427A-1492CA445648}"/>
              </a:ext>
            </a:extLst>
          </p:cNvPr>
          <p:cNvSpPr/>
          <p:nvPr/>
        </p:nvSpPr>
        <p:spPr>
          <a:xfrm>
            <a:off x="653093" y="380845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fromID  toID  status  partyID</a:t>
            </a:r>
            <a:endParaRPr lang="en-US" sz="6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981D5F1-D96C-F6C6-438F-D547193845FA}"/>
              </a:ext>
            </a:extLst>
          </p:cNvPr>
          <p:cNvSpPr/>
          <p:nvPr/>
        </p:nvSpPr>
        <p:spPr>
          <a:xfrm>
            <a:off x="543365" y="4091919"/>
            <a:ext cx="3589020" cy="41148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762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9B03D7D-7A3E-9119-E540-9B4E74CE3B2C}"/>
              </a:ext>
            </a:extLst>
          </p:cNvPr>
          <p:cNvSpPr/>
          <p:nvPr/>
        </p:nvSpPr>
        <p:spPr>
          <a:xfrm>
            <a:off x="653093" y="4128495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</a:t>
            </a:r>
            <a:endParaRPr lang="en-US" sz="9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5074479-CF1A-D149-F1C4-7543CAC9E024}"/>
              </a:ext>
            </a:extLst>
          </p:cNvPr>
          <p:cNvSpPr/>
          <p:nvPr/>
        </p:nvSpPr>
        <p:spPr>
          <a:xfrm>
            <a:off x="653093" y="4311375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userID1  userID2  status</a:t>
            </a:r>
            <a:endParaRPr lang="en-US" sz="650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27B6338-61C5-F372-59DF-131B7B2C720F}"/>
              </a:ext>
            </a:extLst>
          </p:cNvPr>
          <p:cNvSpPr txBox="1"/>
          <p:nvPr/>
        </p:nvSpPr>
        <p:spPr>
          <a:xfrm>
            <a:off x="4462911" y="697033"/>
            <a:ext cx="40949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600" dirty="0">
                <a:solidFill>
                  <a:schemeClr val="bg1">
                    <a:lumMod val="50000"/>
                  </a:schemeClr>
                </a:solidFill>
                <a:latin typeface="Aptos Black" panose="020F0502020204030204" pitchFamily="34" charset="0"/>
              </a:rPr>
              <a:t>Temporäre Daten „dauerhaft“ speichern</a:t>
            </a:r>
          </a:p>
        </p:txBody>
      </p:sp>
    </p:spTree>
    <p:extLst>
      <p:ext uri="{BB962C8B-B14F-4D97-AF65-F5344CB8AC3E}">
        <p14:creationId xmlns:p14="http://schemas.microsoft.com/office/powerpoint/2010/main" val="3757776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PHP HIGHLIGHTS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Session-Schutz auf allen Endpunkten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79"/>
            <a:ext cx="3931920" cy="31581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scrape*.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Dateien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geben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Schutz für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abrufbar</a:t>
            </a:r>
            <a:endParaRPr lang="en-US" sz="1600" dirty="0">
              <a:solidFill>
                <a:srgbClr val="33363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header() Redirect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funktioniert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nicht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JS-Fetches → JSON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401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</a:t>
            </a:r>
          </a:p>
          <a:p>
            <a:pPr marL="342900" indent="-342900">
              <a:buSzPct val="100000"/>
              <a:buChar char="•"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JS-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Seite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fängt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401 ab und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leitet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safeFetch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zentrale</a:t>
            </a:r>
            <a:r>
              <a:rPr lang="en-US" sz="16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Hilfsfunktion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393192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PHP — jede scrape*.php
</a:t>
            </a: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(!isset(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['userID']))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('Content-Type: application/json');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json_encode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(["code" =&gt;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exit;
}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 — auth.js
</a:t>
            </a: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(url, opts = {})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</a:t>
            </a: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(await 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(url, opts)).json();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(data.code ===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location.href =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'../userSys/index.html'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PHP HIGHLIGHTS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Swipe-Logik &amp; Ergebnis-Query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speichern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swipes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(userID, movieID, watchpartyID, liked)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</a:t>
            </a: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(?, ?, ?, ?)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 UPDATE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liked = 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DUPLICATE KEY → kein doppelter Swipe möglich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liked als boolean (0/1) gespeichert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Gewinner ermitteln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m.title,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swipes 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m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</a:t>
            </a: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m.movieID = s.movieID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s.watchpartyID = ?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0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s.liked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m.movieID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zählt alle Likes pro Film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DESC → meistgelikter Film zuerst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AF5C874C-E55E-E03D-9BCF-18D32853EE0E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84A6E000-88AB-8596-CAF9-BF3A09F03EDC}"/>
              </a:ext>
            </a:extLst>
          </p:cNvPr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PHP HIGHLIGHTS</a:t>
            </a:r>
            <a:endParaRPr lang="en-US" sz="8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660FBB6-95DF-7027-E93A-DCF37B3E3D8F}"/>
              </a:ext>
            </a:extLst>
          </p:cNvPr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Echtzeit ohne WebSockets — Polling</a:t>
            </a:r>
            <a:endParaRPr lang="en-US" sz="20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4ADA2BD-0368-7BEA-023C-D2966D6DC336}"/>
              </a:ext>
            </a:extLst>
          </p:cNvPr>
          <p:cNvSpPr/>
          <p:nvPr/>
        </p:nvSpPr>
        <p:spPr>
          <a:xfrm>
            <a:off x="457200" y="123444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WebSocket-Server nötig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</a:t>
            </a:r>
            <a:r>
              <a:rPr lang="en-US" sz="12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unterstützt</a:t>
            </a: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</a:t>
            </a: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persistenten</a:t>
            </a: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Verbindungen</a:t>
            </a:r>
            <a:endParaRPr lang="en-US" sz="1200" dirty="0">
              <a:solidFill>
                <a:srgbClr val="88888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Browser fragt alle 3 Sekunden an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setInterval(() =&gt; pollStatus(), 3000)</a:t>
            </a:r>
          </a:p>
          <a:p>
            <a:pPr marL="685800" lvl="1" indent="-342900">
              <a:buSzPct val="100000"/>
              <a:buChar char="•"/>
            </a:pPr>
            <a:endParaRPr lang="en-US" sz="14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Polling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ist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pur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lese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basiert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anders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anderen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varianten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wo die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schnittstelle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die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informationen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selber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sendet</a:t>
            </a:r>
            <a:endParaRPr lang="en-US" sz="14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Status-Felder in der watchparty Tabelle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 Warteraum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→ </a:t>
            </a:r>
            <a:r>
              <a:rPr lang="en-US" sz="1200" dirty="0" err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200" dirty="0">
              <a:solidFill>
                <a:srgbClr val="88888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342900">
              <a:buSzPct val="100000"/>
              <a:buChar char="•"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Clients merken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Statuswechsel</a:t>
            </a: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gleichzeitig</a:t>
            </a:r>
            <a:endParaRPr lang="en-US" sz="1400" dirty="0">
              <a:solidFill>
                <a:srgbClr val="33363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6E5D0AD-6BA0-4D07-316A-540303545489}"/>
              </a:ext>
            </a:extLst>
          </p:cNvPr>
          <p:cNvSpPr/>
          <p:nvPr/>
        </p:nvSpPr>
        <p:spPr>
          <a:xfrm>
            <a:off x="4572000" y="109728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E8CC87F-2029-992A-F2B9-C9CFAE96402A}"/>
              </a:ext>
            </a:extLst>
          </p:cNvPr>
          <p:cNvSpPr/>
          <p:nvPr/>
        </p:nvSpPr>
        <p:spPr>
          <a:xfrm>
            <a:off x="4663440" y="1234440"/>
            <a:ext cx="40233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 — watchpartyWait.js
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pollInterval;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pollStatus()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(`scrapeWatchpartys.php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?getPartyStatus=${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partyID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}`)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renderMembers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(data.members);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(data.status ===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'active'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(pollInterval);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location.href =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`watchpartySwipe.html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?partyID=${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partyID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}`;
    }
  });
}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pollInterval = setInterval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pollStatus,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90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PHP HIGHLIGHTS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 API — Filmdaten automatisch laden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funktioniert: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 </a:t>
            </a:r>
            <a:r>
              <a:rPr lang="en-US" sz="1400" b="1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bietet</a:t>
            </a:r>
            <a:r>
              <a:rPr lang="en-US" sz="1400" b="1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eine kostenlose REST-API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Poster, Titel, Beschreibung, Bewertung — alles automatisch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manuelles Eintragen von Filmdaten nötig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loadMoviesIntoDB.php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lädt</a:t>
            </a: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einmalig</a:t>
            </a: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500+ </a:t>
            </a:r>
            <a:r>
              <a:rPr lang="en-US" sz="1400" dirty="0" err="1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Filme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Speichert nur relevante Felder in die movie-Tabelle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der Browse-Seite: Suche läuft gegen lokale DB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API-Call bei jeder Suchanfrage — schnell &amp; offline-fähig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393192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loadMoviesIntoDB.php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"https://api.themoviedb.org/3/"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"movie/popular?api_key="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$response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file_get_contents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($url);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json_decode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($response,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($data[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'results'</a:t>
            </a:r>
            <a:r>
              <a:rPr lang="en-US" sz="8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as 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$movie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IGNORE INTO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movie (tmdbID,title,overview,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voteAVG,poster) VALUES(?,?,?,?,?)"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bind_param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("issds",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$movie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$movie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8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PHP HIGHLIGHTS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Friend Requests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Tabelle — zwei Verwendungen: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speichert Invites UND Friend Requests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= 'invite' → Watch Party Einladung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= 'friendrequest' → Freundschaftsanfrage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Status-Felder steuern den Flow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noch nicht beantwortet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→ angenommen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→ abgelehnt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annehmen → 2 DB-Updates gleichzeitig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partymember.status = 'joined'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notification.status = 'accepted'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Request annehmen → friend.status = 'accepted'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3931920" cy="3657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Invite senden (watchpartyConf.php)
</a:t>
            </a: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"INSERT INTO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
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(fromID,toID,content,status,partyID)
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(?,?,'invite','pending',?)"
);
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Invite annehmen (scrapeWatchpartys.php)
</a:t>
            </a:r>
            <a:r>
              <a:rPr lang="en-US" sz="78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(isset(</a:t>
            </a: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'acceptInvite'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partymember updaten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("UPDATE </a:t>
            </a: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partymember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status='joined'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watchpartyID=? AND userID=?");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notification updaten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r>
              <a:rPr lang="en-US" sz="780" dirty="0">
                <a:solidFill>
                  <a:srgbClr val="F2F4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78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("UPDATE </a:t>
            </a: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status='accepted'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partyID=? AND toID=?");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  LIVE-DEMO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Registrieren &amp; Anmelden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Neuen Account erstellen, Session zeigen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&amp; Filme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2608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öffnen, Film per Suche hinzufügen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384048" cy="384048"/>
          </a:xfrm>
          <a:prstGeom prst="ellipse">
            <a:avLst/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45720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236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Party erstellen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4930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konfigurieren, Friend einladen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803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annehmen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05993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zweitem Account Invite annehmen, Warteraum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384048" cy="384048"/>
          </a:xfrm>
          <a:prstGeom prst="ellipse">
            <a:avLst/>
          </a:prstGeom>
          <a:solidFill>
            <a:srgbClr val="C52720"/>
          </a:solidFill>
          <a:ln w="12700">
            <a:solidFill>
              <a:srgbClr val="C5272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70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Swipen &amp; Ergebnis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62686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Accounts swipen, Gewinner anzeigen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kern="0" spc="12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eure Aufmerksamkeit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2651760"/>
            <a:ext cx="3657600" cy="0"/>
          </a:xfrm>
          <a:prstGeom prst="line">
            <a:avLst/>
          </a:prstGeom>
          <a:noFill/>
          <a:ln w="6350">
            <a:solidFill>
              <a:srgbClr val="33363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Datenbanktabellen   ·  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Sessions &amp; Prepared Statements   ·   </a:t>
            </a:r>
            <a:r>
              <a:rPr lang="en-US" sz="10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TMDB API Integration   ·   </a:t>
            </a: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Polling   ·   </a:t>
            </a:r>
            <a:r>
              <a:rPr lang="en-US" sz="1000" dirty="0">
                <a:solidFill>
                  <a:srgbClr val="F2F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Design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C52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Clemens Altrichter  ·  3BHITM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Bildschirmpräsentation (16:9)</PresentationFormat>
  <Paragraphs>247</Paragraphs>
  <Slides>12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 Black</vt:lpstr>
      <vt:lpstr>Arial</vt:lpstr>
      <vt:lpstr>Courier New</vt:lpstr>
      <vt:lpstr>HighriseDemo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Sommerprojekt</dc:title>
  <dc:subject>PptxGenJS Presentation</dc:subject>
  <dc:creator>PptxGenJS</dc:creator>
  <cp:lastModifiedBy>Altrichter Clemens</cp:lastModifiedBy>
  <cp:revision>2</cp:revision>
  <dcterms:created xsi:type="dcterms:W3CDTF">2026-06-15T22:03:47Z</dcterms:created>
  <dcterms:modified xsi:type="dcterms:W3CDTF">2026-06-15T22:38:41Z</dcterms:modified>
</cp:coreProperties>
</file>